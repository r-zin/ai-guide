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63" r:id="rId3"/>
    <p:sldId id="264" r:id="rId4"/>
    <p:sldId id="256" r:id="rId5"/>
    <p:sldId id="257" r:id="rId6"/>
    <p:sldId id="258" r:id="rId7"/>
    <p:sldId id="259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lution" id="{2BF68D51-DA38-76AB-C8E0-F93F7E1ECCBF}">
          <p14:sldIdLst>
            <p14:sldId id="265"/>
            <p14:sldId id="263"/>
            <p14:sldId id="264"/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69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16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1223"/>
              </a:lnSpc>
            </a:pPr>
            <a:fld id="{81D60167-4931-47E6-BA6A-407CBD079E47}" type="slidenum">
              <a:rPr lang="en-IN" spc="-38" smtClean="0"/>
              <a:pPr marL="28575">
                <a:lnSpc>
                  <a:spcPts val="1223"/>
                </a:lnSpc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7216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7468-C848-45F8-9A2E-CF68051F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09201-B1B1-4685-AF3A-C2A7B9A19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26818-67A5-4F1D-AAA8-CE56E809F1A6}"/>
              </a:ext>
            </a:extLst>
          </p:cNvPr>
          <p:cNvSpPr/>
          <p:nvPr/>
        </p:nvSpPr>
        <p:spPr>
          <a:xfrm>
            <a:off x="1165014" y="2202418"/>
            <a:ext cx="71390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 err="1"/>
              <a:t>Sugeno</a:t>
            </a:r>
            <a:r>
              <a:rPr lang="en-IN" sz="3600" dirty="0"/>
              <a:t> Fuzzy inference system</a:t>
            </a:r>
          </a:p>
          <a:p>
            <a:r>
              <a:rPr lang="en-IN" dirty="0"/>
              <a:t>                                       </a:t>
            </a:r>
          </a:p>
          <a:p>
            <a:r>
              <a:rPr lang="en-IN" dirty="0"/>
              <a:t>                                      Exercise and Solution</a:t>
            </a:r>
          </a:p>
          <a:p>
            <a:endParaRPr lang="en-IN" dirty="0"/>
          </a:p>
          <a:p>
            <a:r>
              <a:rPr lang="en-IN" dirty="0"/>
              <a:t>		  Dr. </a:t>
            </a:r>
            <a:r>
              <a:rPr lang="en-IN" dirty="0" err="1"/>
              <a:t>Sushitha</a:t>
            </a:r>
            <a:r>
              <a:rPr lang="en-IN" dirty="0"/>
              <a:t> Susan Joseph</a:t>
            </a:r>
          </a:p>
        </p:txBody>
      </p:sp>
    </p:spTree>
    <p:extLst>
      <p:ext uri="{BB962C8B-B14F-4D97-AF65-F5344CB8AC3E}">
        <p14:creationId xmlns:p14="http://schemas.microsoft.com/office/powerpoint/2010/main" val="182535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DF73-49D3-4B83-8C85-5318D858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88" y="14477"/>
            <a:ext cx="5390674" cy="415499"/>
          </a:xfrm>
        </p:spPr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0F697E-9B41-4FB9-96DB-43BCF4CA19F2}"/>
              </a:ext>
            </a:extLst>
          </p:cNvPr>
          <p:cNvSpPr/>
          <p:nvPr/>
        </p:nvSpPr>
        <p:spPr>
          <a:xfrm>
            <a:off x="1371600" y="742950"/>
            <a:ext cx="645795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n-US" sz="1350" b="1" dirty="0"/>
              <a:t>Design a  </a:t>
            </a:r>
            <a:r>
              <a:rPr lang="en-US" sz="1350" b="1" dirty="0" err="1"/>
              <a:t>Sugeno</a:t>
            </a:r>
            <a:r>
              <a:rPr lang="en-US" sz="1350" b="1" dirty="0"/>
              <a:t>-style fuzzy inference system to adjust fan speed based on Room Temperature and Relative Humidity.</a:t>
            </a:r>
            <a:r>
              <a:rPr lang="en-US" sz="1350" dirty="0"/>
              <a:t> </a:t>
            </a:r>
          </a:p>
          <a:p>
            <a:pPr rtl="0"/>
            <a:endParaRPr lang="en-US" sz="1350" dirty="0"/>
          </a:p>
          <a:p>
            <a:pPr rtl="0"/>
            <a:r>
              <a:rPr lang="en-US" sz="1350" dirty="0"/>
              <a:t>Universes of discourse: Temperature (°C): 0–40; Humidity (%): 0–100; Fan Speed (% of maximum): 0–100.</a:t>
            </a:r>
          </a:p>
          <a:p>
            <a:pPr rtl="0"/>
            <a:endParaRPr lang="en-US" sz="1350" dirty="0"/>
          </a:p>
          <a:p>
            <a:pPr rtl="0"/>
            <a:r>
              <a:rPr lang="en-US" sz="1350" dirty="0"/>
              <a:t>Input fuzzy sets. </a:t>
            </a:r>
          </a:p>
          <a:p>
            <a:pPr rtl="0"/>
            <a:r>
              <a:rPr lang="en-US" sz="1350" dirty="0"/>
              <a:t>Trapezoid is trap[a, b, c, d]: membership rises from 0 at a to 1 at b, stays 1 until c, and falls to 0 at d. </a:t>
            </a:r>
          </a:p>
          <a:p>
            <a:pPr rtl="0"/>
            <a:r>
              <a:rPr lang="en-US" sz="1350" dirty="0"/>
              <a:t>Triangle is tri[a, b, c]: membership is 0 at a, 1 at b and 0 at 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B8E86B-0114-4BC5-99DB-72DDDD0E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2896671"/>
            <a:ext cx="4675757" cy="200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8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1E41-53BA-4F42-886B-43ED4183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B7C34-0760-40CD-8473-FEF49ECD8EAE}"/>
              </a:ext>
            </a:extLst>
          </p:cNvPr>
          <p:cNvSpPr/>
          <p:nvPr/>
        </p:nvSpPr>
        <p:spPr>
          <a:xfrm>
            <a:off x="1371600" y="914400"/>
            <a:ext cx="645795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n-US" sz="1350" b="1" dirty="0"/>
              <a:t>Output (fuzzy singletons):</a:t>
            </a:r>
            <a:r>
              <a:rPr lang="en-US" sz="1350" dirty="0"/>
              <a:t> Low = 10, Medium = 50, High = 90.</a:t>
            </a:r>
          </a:p>
          <a:p>
            <a:pPr rtl="0"/>
            <a:r>
              <a:rPr lang="en-US" sz="1350" b="1" dirty="0"/>
              <a:t>Rule base:</a:t>
            </a:r>
            <a:endParaRPr lang="en-US" sz="1350" dirty="0"/>
          </a:p>
          <a:p>
            <a:pPr rtl="0">
              <a:buFont typeface="+mj-lt"/>
              <a:buAutoNum type="arabicPeriod"/>
            </a:pPr>
            <a:r>
              <a:rPr lang="en-US" sz="1350" dirty="0"/>
              <a:t>IF Temperature is Cool AND Humidity is Dry THEN Fan Speed is Low</a:t>
            </a:r>
          </a:p>
          <a:p>
            <a:pPr rtl="0">
              <a:buFont typeface="+mj-lt"/>
              <a:buAutoNum type="arabicPeriod"/>
            </a:pPr>
            <a:r>
              <a:rPr lang="en-US" sz="1350" dirty="0"/>
              <a:t>IF Temperature is Warm AND Humidity is Normal THEN Fan Speed is Medium</a:t>
            </a:r>
          </a:p>
          <a:p>
            <a:pPr rtl="0">
              <a:buFont typeface="+mj-lt"/>
              <a:buAutoNum type="arabicPeriod"/>
            </a:pPr>
            <a:r>
              <a:rPr lang="en-US" sz="1350" dirty="0"/>
              <a:t>IF Temperature is Hot AND Humidity is Humid THEN Fan Speed is High</a:t>
            </a:r>
          </a:p>
          <a:p>
            <a:pPr rtl="0">
              <a:buFont typeface="+mj-lt"/>
              <a:buAutoNum type="arabicPeriod"/>
            </a:pPr>
            <a:r>
              <a:rPr lang="en-US" sz="1350" dirty="0"/>
              <a:t>IF Temperature is Hot AND Humidity is Dry THEN Fan Speed is Medium</a:t>
            </a:r>
          </a:p>
          <a:p>
            <a:pPr rtl="0">
              <a:buFont typeface="+mj-lt"/>
              <a:buAutoNum type="arabicPeriod"/>
            </a:pPr>
            <a:r>
              <a:rPr lang="en-US" sz="1350" dirty="0"/>
              <a:t>IF Temperature is Cool AND Humidity is Humid THEN Fan Speed is Medium</a:t>
            </a:r>
          </a:p>
          <a:p>
            <a:pPr rtl="0">
              <a:buFont typeface="+mj-lt"/>
              <a:buAutoNum type="arabicPeriod"/>
            </a:pPr>
            <a:endParaRPr lang="en-US" sz="1350" dirty="0"/>
          </a:p>
          <a:p>
            <a:pPr rtl="0"/>
            <a:r>
              <a:rPr lang="en-US" sz="1350" dirty="0"/>
              <a:t>For </a:t>
            </a:r>
            <a:r>
              <a:rPr lang="en-US" sz="1350" b="1" dirty="0"/>
              <a:t>Temperature = 31 °C</a:t>
            </a:r>
            <a:r>
              <a:rPr lang="en-US" sz="1350" dirty="0"/>
              <a:t> and </a:t>
            </a:r>
            <a:r>
              <a:rPr lang="en-US" sz="1350" b="1" dirty="0"/>
              <a:t>Humidity = 70 %</a:t>
            </a:r>
            <a:r>
              <a:rPr lang="en-US" sz="1350" dirty="0"/>
              <a:t>:</a:t>
            </a:r>
          </a:p>
          <a:p>
            <a:pPr rtl="0"/>
            <a:endParaRPr lang="en-US" sz="1350" dirty="0"/>
          </a:p>
          <a:p>
            <a:pPr rtl="0"/>
            <a:r>
              <a:rPr lang="en-US" sz="1350" dirty="0"/>
              <a:t>(a) </a:t>
            </a:r>
            <a:r>
              <a:rPr lang="en-US" sz="1350" dirty="0" err="1"/>
              <a:t>Fuzzify</a:t>
            </a:r>
            <a:r>
              <a:rPr lang="en-US" sz="1350" dirty="0"/>
              <a:t> both inputs, sketching the membership functions and marking the readings. </a:t>
            </a:r>
            <a:br>
              <a:rPr lang="en-US" sz="1350" dirty="0"/>
            </a:br>
            <a:r>
              <a:rPr lang="en-US" sz="1350" dirty="0"/>
              <a:t>(b) Compute the firing strength of each rule, using min for AND.</a:t>
            </a:r>
            <a:br>
              <a:rPr lang="en-US" sz="1350" dirty="0"/>
            </a:br>
            <a:r>
              <a:rPr lang="en-US" sz="1350" dirty="0"/>
              <a:t>(c) Sketch the aggregated singleton output and compute the crisp fan speed by the weighted-average method. </a:t>
            </a:r>
          </a:p>
        </p:txBody>
      </p:sp>
    </p:spTree>
    <p:extLst>
      <p:ext uri="{BB962C8B-B14F-4D97-AF65-F5344CB8AC3E}">
        <p14:creationId xmlns:p14="http://schemas.microsoft.com/office/powerpoint/2010/main" val="396795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3171"/>
            <a:ext cx="6858000" cy="243841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Zero-order Sugeno fan-speed controller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Temperature (°C), universe 0–40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Cool = trap[0, 0, 18, 24]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Warm = tri[22, 28, 34]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Hot = trap[30, 35, 40, 40]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Humidity (%), universe 0–100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Dry = trap[0, 0, 20, 40]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Normal = tri[35, 55, 75]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Humid = trap[65, 80, 100, 100]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Fan speed singletons (% of max)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Low = 10 · Medium = 50 · High = 90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Rule base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1. IF Cool AND Dry THEN Low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2. IF Warm AND Normal THEN Medium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3. IF Hot AND Humid THEN High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4. IF Hot AND Dry THEN Medium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5. IF Cool AND Humid THEN Medium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Inputs: T = 31 °C, H = 70 %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(a) Fuzzify both inputs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(b) Evaluate each rule (AND = min)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(c) Aggregate and compute the crisp output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0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(a) Fuzzification at T = 31 °C and H = 70 %</a:t>
            </a:r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0" cy="15544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139903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67712" y="1417320"/>
            <a:ext cx="466344" cy="15544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8156" y="1197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2578608" y="1417320"/>
            <a:ext cx="466344" cy="1554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4952" y="1417320"/>
            <a:ext cx="466344" cy="1554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4912" y="1197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Warm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3200400" y="1417320"/>
            <a:ext cx="388620" cy="155448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9020" y="1417320"/>
            <a:ext cx="38862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1417320"/>
            <a:ext cx="0" cy="155448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3290" y="1197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Hot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971800"/>
            <a:ext cx="3108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417320"/>
            <a:ext cx="0" cy="155448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94560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1800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77640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49040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40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297180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2889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219456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21122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141732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13350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11430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chemeClr val="tx1"/>
                </a:solidFill>
              </a:rPr>
              <a:t>μ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3246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Temperature (°C)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78124" y="1417320"/>
            <a:ext cx="0" cy="155448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2820924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T = 31 °C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32404" y="214884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64892" y="21122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μ = 0.5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32404" y="2615184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564892" y="257860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μ = 0.2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32404" y="292608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1417320"/>
            <a:ext cx="0" cy="1554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1417320"/>
            <a:ext cx="62179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88152" y="1417320"/>
            <a:ext cx="621792" cy="1554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57216" y="1197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Dry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 flipV="1">
            <a:off x="6254496" y="1417320"/>
            <a:ext cx="621792" cy="155448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76288" y="1417320"/>
            <a:ext cx="621792" cy="155448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56248" y="1197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Normal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 flipV="1">
            <a:off x="7187184" y="1417320"/>
            <a:ext cx="466344" cy="15544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53528" y="1417320"/>
            <a:ext cx="62179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5320" y="1417320"/>
            <a:ext cx="0" cy="15544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44384" y="1197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Humid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166360" y="2971800"/>
            <a:ext cx="3108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1417320"/>
            <a:ext cx="0" cy="155448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66360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937760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788152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559552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9944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181344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40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31736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803136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60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653528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424928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80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75320" y="29718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046720" y="3035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100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20640" y="297180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754880" y="2889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0" y="219456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754880" y="21122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0.5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0" y="141732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754880" y="13350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4754880" y="11430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chemeClr val="tx1"/>
                </a:solidFill>
              </a:rPr>
              <a:t>μ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5166360" y="3246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Humidity (%)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42632" y="1417320"/>
            <a:ext cx="0" cy="155448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6885432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H = 70 %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296912" y="240792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434072" y="22524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μ = 0.33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296912" y="253746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434072" y="25648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μ = 0.25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296912" y="292608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Cool(31) = 0   (31 &gt; 24)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Warm(31) = (34 − 31) / (34 − 28) = 0.5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Hot(31) = (31 − 30) / (35 − 30) = 0.2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754880" y="3657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Dry(70) = 0   (70 &gt; 40)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Normal(70) = (75 − 70) / (75 − 55) = 0.25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Humid(70) = (70 − 65) / (80 − 65) = 0.33</a:t>
            </a:r>
            <a:endParaRPr lang="en-US" sz="1300" dirty="0"/>
          </a:p>
        </p:txBody>
      </p:sp>
      <p:sp>
        <p:nvSpPr>
          <p:cNvPr id="8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(b) Rule evaluation (AND = min)</a:t>
            </a: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Antecedent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min of memberships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Output 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Firing strength w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Cool AND Dry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min(0, 0)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 = 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Warm AND Normal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min(0.5, 0.25)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 = 50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Hot AND Humid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min(0.2, 0.33)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High = 90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Hot AND Dry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min(0.2, 0)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 = 50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Cool AND Humid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min(0, 0.33)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 = 50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Only R2 and R3 fire (w &gt; 0). R1, R4 and R5 contribute nothing.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Fuzzification and rule evaluation are identical to Mamdani. Only the consequent differs.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(c) Aggregation: collect the (k, w) pairs</a:t>
            </a:r>
          </a:p>
        </p:txBody>
      </p:sp>
      <p:sp>
        <p:nvSpPr>
          <p:cNvPr id="3" name="Shape 1"/>
          <p:cNvSpPr/>
          <p:nvPr/>
        </p:nvSpPr>
        <p:spPr>
          <a:xfrm>
            <a:off x="822960" y="3794760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17320"/>
            <a:ext cx="0" cy="23774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087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03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60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519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80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379476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6360" y="3858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79476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37124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320040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3118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260604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252374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201168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" y="19293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141732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13350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1430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chemeClr val="tx1"/>
                </a:solidFill>
              </a:rPr>
              <a:t>w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069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Fan speed (% of max)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225296" y="3739896"/>
            <a:ext cx="109728" cy="109728"/>
          </a:xfrm>
          <a:prstGeom prst="ellipse">
            <a:avLst/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35021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R1: w = 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08960" y="2308860"/>
            <a:ext cx="0" cy="1485900"/>
          </a:xfrm>
          <a:prstGeom prst="line">
            <a:avLst/>
          </a:prstGeom>
          <a:noFill/>
          <a:ln w="44450">
            <a:solidFill>
              <a:schemeClr val="accent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54096" y="2253996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468880" y="20619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k=50, w=0.25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2606040"/>
            <a:ext cx="0" cy="1188720"/>
          </a:xfrm>
          <a:prstGeom prst="line">
            <a:avLst/>
          </a:prstGeom>
          <a:noFill/>
          <a:ln w="44450">
            <a:solidFill>
              <a:schemeClr val="accent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82896" y="255117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97680" y="2359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k=90, w=0.2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760720" y="12801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Each rule gives a singleton at its constant k, with height equal to its firing strength w.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R2 gives (k = 50, w = 0.25)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R3 gives (k = 90, w = 0.2)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R1, R4, R5 have w = 0, so no visible spike.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No shapes to union: the spikes keep their own heights, and the next step uses them.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(c) Defuzzification: weighted average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z = Σ (w × k) / Σ 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(0.25 × 50 + 0.2 × 90) / (0.25 + 0.2)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(12.5 + 18) / 0.45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= 30.5 / 0.45 ≈ 67.78 %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Sanity checks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z lies between 50 and 90 ✓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z is closer to 50 because w of R2 (0.25) is larger than w of R3 (0.2) ✓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Dividing by Σ w normalises the result. Without it we would get 30.5, which is not a valid fan speed.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3657600"/>
            <a:ext cx="32918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1554480"/>
            <a:ext cx="0" cy="21031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36576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61888" y="36576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33288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0256" y="36576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40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78624" y="36576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50024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60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36992" y="36576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08392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80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0" y="3657600"/>
            <a:ext cx="0" cy="457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365760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575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313182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0495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260604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52374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208026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19979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57800" y="1554480"/>
            <a:ext cx="457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14721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</a:rPr>
              <a:t>0.4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chemeClr val="tx1"/>
                </a:solidFill>
              </a:rPr>
              <a:t>w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Fan speed (% of max)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3602736"/>
            <a:ext cx="109728" cy="109728"/>
          </a:xfrm>
          <a:prstGeom prst="ellipse">
            <a:avLst/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84064" y="33649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R1: w = 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9440" y="2343150"/>
            <a:ext cx="0" cy="1314450"/>
          </a:xfrm>
          <a:prstGeom prst="line">
            <a:avLst/>
          </a:prstGeom>
          <a:noFill/>
          <a:ln w="44450">
            <a:solidFill>
              <a:schemeClr val="accent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94576" y="2288286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209626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k=50, w=0.25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66176" y="2606040"/>
            <a:ext cx="0" cy="1051560"/>
          </a:xfrm>
          <a:prstGeom prst="line">
            <a:avLst/>
          </a:prstGeom>
          <a:noFill/>
          <a:ln w="44450">
            <a:solidFill>
              <a:schemeClr val="accent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11312" y="255117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26096" y="2359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k=90, w=0.2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34729" y="1554480"/>
            <a:ext cx="0" cy="21031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6894649" y="1316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</a:rPr>
              <a:t>z = 67.78 %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genoSolution">
  <a:themeElements>
    <a:clrScheme name="SugenoSolution">
      <a:dk1>
        <a:srgbClr val="222222"/>
      </a:dk1>
      <a:lt1>
        <a:srgbClr val="FFFFFF"/>
      </a:lt1>
      <a:dk2>
        <a:srgbClr val="1F3A5F"/>
      </a:dk2>
      <a:lt2>
        <a:srgbClr val="EEF2F7"/>
      </a:lt2>
      <a:accent1>
        <a:srgbClr val="378ADD"/>
      </a:accent1>
      <a:accent2>
        <a:srgbClr val="EF9F27"/>
      </a:accent2>
      <a:accent3>
        <a:srgbClr val="E24B4A"/>
      </a:accent3>
      <a:accent4>
        <a:srgbClr val="1D9E75"/>
      </a:accent4>
      <a:accent5>
        <a:srgbClr val="D85A30"/>
      </a:accent5>
      <a:accent6>
        <a:srgbClr val="7F77DD"/>
      </a:accent6>
      <a:hlink>
        <a:srgbClr val="378ADD"/>
      </a:hlink>
      <a:folHlink>
        <a:srgbClr val="7F77DD"/>
      </a:folHlink>
    </a:clrScheme>
    <a:fontScheme name="SugenoSolu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1021</Words>
  <Application>Microsoft Office PowerPoint</Application>
  <PresentationFormat>On-screen Show (16:9)</PresentationFormat>
  <Paragraphs>182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SugenoSolution</vt:lpstr>
      <vt:lpstr>    </vt:lpstr>
      <vt:lpstr>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Zero-order Sugeno fan-speed controller: solution</dc:title>
  <dc:subject>PptxGenJS Presentation</dc:subject>
  <dc:creator>PptxGenJS</dc:creator>
  <cp:lastModifiedBy>IIITKOTTAYAM</cp:lastModifiedBy>
  <cp:revision>3</cp:revision>
  <dcterms:created xsi:type="dcterms:W3CDTF">2026-10-07T05:39:26Z</dcterms:created>
  <dcterms:modified xsi:type="dcterms:W3CDTF">2026-10-09T05:46:38Z</dcterms:modified>
</cp:coreProperties>
</file>